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aret" charset="1" panose="00000000000000000000"/>
      <p:regular r:id="rId19"/>
    </p:embeddedFont>
    <p:embeddedFont>
      <p:font typeface="Helvetica World" charset="1" panose="020B0500040000020004"/>
      <p:regular r:id="rId20"/>
    </p:embeddedFont>
    <p:embeddedFont>
      <p:font typeface="Garet Bold" charset="1" panose="00000000000000000000"/>
      <p:regular r:id="rId21"/>
    </p:embeddedFont>
    <p:embeddedFont>
      <p:font typeface="Helvetica World Bold" charset="1" panose="020B080004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https://docs.google.com/spreadsheets/d/1DUF2isFWsqVSYhbaACYtbgcLi_YjDqpE3GLQIVgkKQg/edit#gid=69851113" TargetMode="External" Type="http://schemas.openxmlformats.org/officeDocument/2006/relationships/hyperlink"/><Relationship Id="rId5" Target="https://docs.google.com/spreadsheets/d/1DUF2isFWsqVSYhbaACYtbgcLi_YjDqpE3GLQIVgkKQg/edit#gid=69851113" TargetMode="External" Type="http://schemas.openxmlformats.org/officeDocument/2006/relationships/hyperlink"/><Relationship Id="rId6" Target="https://docs.google.com/spreadsheets/d/1DUF2isFWsqVSYhbaACYtbgcLi_YjDqpE3GLQIVgkKQg/edit#gid=69851113" TargetMode="External" Type="http://schemas.openxmlformats.org/officeDocument/2006/relationships/hyperlink"/><Relationship Id="rId7" Target="https://docs.google.com/spreadsheets/d/1DUF2isFWsqVSYhbaACYtbgcLi_YjDqpE3GLQIVgkKQg/edit#gid=69851113" TargetMode="External" Type="http://schemas.openxmlformats.org/officeDocument/2006/relationships/hyperlink"/><Relationship Id="rId8" Target="https://docs.google.com/spreadsheets/d/1DUF2isFWsqVSYhbaACYtbgcLi_YjDqpE3GLQIVgkKQg/edit#gid=69851113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73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458190">
            <a:off x="10477411" y="-4291124"/>
            <a:ext cx="13610886" cy="8302196"/>
            <a:chOff x="0" y="0"/>
            <a:chExt cx="1476351" cy="900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6351" cy="900526"/>
            </a:xfrm>
            <a:custGeom>
              <a:avLst/>
              <a:gdLst/>
              <a:ahLst/>
              <a:cxnLst/>
              <a:rect r="r" b="b" t="t" l="l"/>
              <a:pathLst>
                <a:path h="900526" w="1476351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FFBD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476351" cy="1062451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5400000">
            <a:off x="9296383" y="1330628"/>
            <a:ext cx="8302229" cy="8302196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004210" y="2038438"/>
            <a:ext cx="6886575" cy="688657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6750" y="1784985"/>
            <a:ext cx="8324850" cy="2943860"/>
            <a:chOff x="0" y="0"/>
            <a:chExt cx="11099800" cy="392514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66675"/>
              <a:ext cx="11099800" cy="1111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379"/>
                </a:lnSpc>
              </a:pPr>
              <a:r>
                <a:rPr lang="en-US" sz="5799" spc="-144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QUIZ GAME USING C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426210"/>
              <a:ext cx="9588500" cy="24989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39"/>
                </a:lnSpc>
              </a:pPr>
              <a:r>
                <a:rPr lang="en-US" sz="57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Subj</a:t>
              </a:r>
              <a:r>
                <a:rPr lang="en-US" sz="57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ect: Foundations of Programming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66750" y="66675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6750" y="5519826"/>
            <a:ext cx="8176076" cy="198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600" spc="-8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Ashwin Gupta - 1262253478</a:t>
            </a:r>
          </a:p>
          <a:p>
            <a:pPr algn="l">
              <a:lnSpc>
                <a:spcPts val="3960"/>
              </a:lnSpc>
            </a:pPr>
            <a:r>
              <a:rPr lang="en-US" sz="3600" spc="-8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Rishab Oswal - 1262253561</a:t>
            </a:r>
          </a:p>
          <a:p>
            <a:pPr algn="l">
              <a:lnSpc>
                <a:spcPts val="3960"/>
              </a:lnSpc>
            </a:pPr>
            <a:r>
              <a:rPr lang="en-US" sz="3600" spc="-8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Harsh Phule - 1262250816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3600" spc="-8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Saransh Parihar - 1262253066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73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058190">
            <a:off x="-8315153" y="-2517302"/>
            <a:ext cx="13610886" cy="8302196"/>
            <a:chOff x="0" y="0"/>
            <a:chExt cx="1476351" cy="900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6351" cy="900526"/>
            </a:xfrm>
            <a:custGeom>
              <a:avLst/>
              <a:gdLst/>
              <a:ahLst/>
              <a:cxnLst/>
              <a:rect r="r" b="b" t="t" l="l"/>
              <a:pathLst>
                <a:path h="900526" w="1476351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BF49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476351" cy="1062451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39072" y="1318054"/>
            <a:ext cx="8302229" cy="8302196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BF49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16505" y="2173614"/>
            <a:ext cx="6591076" cy="659107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780929" y="666750"/>
            <a:ext cx="8747312" cy="9627196"/>
            <a:chOff x="0" y="0"/>
            <a:chExt cx="11663082" cy="1283626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5725"/>
              <a:ext cx="11663082" cy="1535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b="true" sz="7999" spc="-1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Project Overview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035546"/>
              <a:ext cx="11663082" cy="108007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12472" indent="-356236" lvl="1">
                <a:lnSpc>
                  <a:spcPts val="4620"/>
                </a:lnSpc>
                <a:buFont typeface="Arial"/>
                <a:buChar char="•"/>
              </a:pP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Q</a:t>
              </a: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</a:t>
              </a: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iz G</a:t>
              </a: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u</a:t>
              </a: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</a:t>
              </a: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C is a console-based program designed to test basic knowledge of </a:t>
              </a: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 programming</a:t>
              </a: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  <a:p>
              <a:pPr algn="l" marL="712472" indent="-356236" lvl="1">
                <a:lnSpc>
                  <a:spcPts val="4620"/>
                </a:lnSpc>
                <a:buFont typeface="Arial"/>
                <a:buChar char="•"/>
              </a:pP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program displays a set of simple questions related to C language concepts such as data types, operators, and control statements.</a:t>
              </a:r>
            </a:p>
            <a:p>
              <a:pPr algn="l" marL="712472" indent="-356236" lvl="1">
                <a:lnSpc>
                  <a:spcPts val="4620"/>
                </a:lnSpc>
                <a:buFont typeface="Arial"/>
                <a:buChar char="•"/>
              </a:pP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user selects answers, and the program checks correctness and calculates the final score.</a:t>
              </a:r>
            </a:p>
            <a:p>
              <a:pPr algn="l" marL="712472" indent="-356236" lvl="1">
                <a:lnSpc>
                  <a:spcPts val="4620"/>
                </a:lnSpc>
                <a:buFont typeface="Arial"/>
                <a:buChar char="•"/>
              </a:pPr>
              <a:r>
                <a:rPr lang="en-US" sz="33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This project demonstrates the use of input/output functions, conditional statements, and basic logic in C.</a:t>
              </a:r>
            </a:p>
            <a:p>
              <a:pPr algn="l">
                <a:lnSpc>
                  <a:spcPts val="462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73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058190">
            <a:off x="-8315153" y="-2517302"/>
            <a:ext cx="13610886" cy="8302196"/>
            <a:chOff x="0" y="0"/>
            <a:chExt cx="1476351" cy="900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6351" cy="900526"/>
            </a:xfrm>
            <a:custGeom>
              <a:avLst/>
              <a:gdLst/>
              <a:ahLst/>
              <a:cxnLst/>
              <a:rect r="r" b="b" t="t" l="l"/>
              <a:pathLst>
                <a:path h="900526" w="1476351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B4EBD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476351" cy="1062451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9072" y="1318054"/>
            <a:ext cx="8302229" cy="8302196"/>
            <a:chOff x="0" y="0"/>
            <a:chExt cx="11069639" cy="11069594"/>
          </a:xfrm>
        </p:grpSpPr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0" y="0"/>
              <a:ext cx="11069639" cy="11069594"/>
              <a:chOff x="0" y="0"/>
              <a:chExt cx="6350000" cy="63499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B4EBD6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943769" y="943747"/>
              <a:ext cx="9182100" cy="9182100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7666" t="0" r="-7666" b="0"/>
                </a:stretch>
              </a:blipFill>
            </p:spPr>
          </p:sp>
        </p:grpSp>
      </p:grpSp>
      <p:sp>
        <p:nvSpPr>
          <p:cNvPr name="TextBox 10" id="10"/>
          <p:cNvSpPr txBox="true"/>
          <p:nvPr/>
        </p:nvSpPr>
        <p:spPr>
          <a:xfrm rot="0">
            <a:off x="8521513" y="756397"/>
            <a:ext cx="8737787" cy="225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b="true" sz="8000" spc="-2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Program 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80929" y="3235325"/>
            <a:ext cx="8513669" cy="678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develop a</a:t>
            </a:r>
            <a:r>
              <a:rPr lang="en-US" sz="3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simpl</a:t>
            </a:r>
            <a:r>
              <a:rPr lang="en-US" sz="3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</a:t>
            </a:r>
            <a:r>
              <a:rPr lang="en-US" sz="3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q</a:t>
            </a:r>
            <a:r>
              <a:rPr lang="en-US" sz="3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uiz gam</a:t>
            </a:r>
            <a:r>
              <a:rPr lang="en-US" sz="3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using C programming language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understand and apply conditional statements (if-else)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practice input and output operations in C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calculate and display the user’s score based on correct answers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strengthen basic programming logic and problem-solving skills</a:t>
            </a:r>
          </a:p>
          <a:p>
            <a:pPr algn="l" marL="0" indent="0" lvl="0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73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1993" y="-983876"/>
            <a:ext cx="8906614" cy="11858053"/>
            <a:chOff x="0" y="0"/>
            <a:chExt cx="5280792" cy="703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80792" cy="7030720"/>
            </a:xfrm>
            <a:custGeom>
              <a:avLst/>
              <a:gdLst/>
              <a:ahLst/>
              <a:cxnLst/>
              <a:rect r="r" b="b" t="t" l="l"/>
              <a:pathLst>
                <a:path h="7030720" w="5280792">
                  <a:moveTo>
                    <a:pt x="0" y="0"/>
                  </a:moveTo>
                  <a:lnTo>
                    <a:pt x="3915070" y="0"/>
                  </a:lnTo>
                  <a:cubicBezTo>
                    <a:pt x="4669468" y="0"/>
                    <a:pt x="5280792" y="358140"/>
                    <a:pt x="5280792" y="800100"/>
                  </a:cubicBezTo>
                  <a:lnTo>
                    <a:pt x="5280792" y="7030720"/>
                  </a:lnTo>
                  <a:lnTo>
                    <a:pt x="0" y="703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660" t="0" r="-1016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0" y="328422"/>
            <a:ext cx="1056640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99"/>
              </a:lnSpc>
              <a:spcBef>
                <a:spcPct val="0"/>
              </a:spcBef>
            </a:pPr>
            <a:r>
              <a:rPr lang="en-US" b="true" sz="8499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Algorithm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34964" y="2454471"/>
            <a:ext cx="9304800" cy="619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9"/>
              </a:lnSpc>
              <a:spcBef>
                <a:spcPct val="0"/>
              </a:spcBef>
            </a:pPr>
            <a:r>
              <a:rPr lang="en-US" sz="3156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 1 : Start </a:t>
            </a:r>
          </a:p>
          <a:p>
            <a:pPr algn="l" marL="0" indent="0" lvl="0">
              <a:lnSpc>
                <a:spcPts val="4419"/>
              </a:lnSpc>
              <a:spcBef>
                <a:spcPct val="0"/>
              </a:spcBef>
            </a:pPr>
            <a:r>
              <a:rPr lang="en-US" sz="3156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 2 : Declare required variables including int score = 0 </a:t>
            </a:r>
          </a:p>
          <a:p>
            <a:pPr algn="l" marL="0" indent="0" lvl="0">
              <a:lnSpc>
                <a:spcPts val="4419"/>
              </a:lnSpc>
              <a:spcBef>
                <a:spcPct val="0"/>
              </a:spcBef>
            </a:pPr>
            <a:r>
              <a:rPr lang="en-US" sz="3156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 3 : Print the question and options(if any) </a:t>
            </a:r>
          </a:p>
          <a:p>
            <a:pPr algn="l" marL="0" indent="0" lvl="0">
              <a:lnSpc>
                <a:spcPts val="4419"/>
              </a:lnSpc>
              <a:spcBef>
                <a:spcPct val="0"/>
              </a:spcBef>
            </a:pPr>
            <a:r>
              <a:rPr lang="en-US" sz="3156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 4 : Take input (answer) from user </a:t>
            </a:r>
          </a:p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sz="3500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 5 : If input==correct answer Score + 1 Otherwise Score remains same </a:t>
            </a:r>
          </a:p>
          <a:p>
            <a:pPr algn="l" marL="0" indent="0" lvl="0">
              <a:lnSpc>
                <a:spcPts val="4419"/>
              </a:lnSpc>
              <a:spcBef>
                <a:spcPct val="0"/>
              </a:spcBef>
            </a:pPr>
            <a:r>
              <a:rPr lang="en-US" sz="3156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 6 : Go to step 3 until all the questions are displayed </a:t>
            </a:r>
          </a:p>
          <a:p>
            <a:pPr algn="l" marL="0" indent="0" lvl="0">
              <a:lnSpc>
                <a:spcPts val="4419"/>
              </a:lnSpc>
              <a:spcBef>
                <a:spcPct val="0"/>
              </a:spcBef>
            </a:pPr>
            <a:r>
              <a:rPr lang="en-US" sz="3156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 7 : Print final score </a:t>
            </a:r>
          </a:p>
          <a:p>
            <a:pPr algn="l" marL="0" indent="0" lvl="0">
              <a:lnSpc>
                <a:spcPts val="4419"/>
              </a:lnSpc>
              <a:spcBef>
                <a:spcPct val="0"/>
              </a:spcBef>
            </a:pPr>
            <a:r>
              <a:rPr lang="en-US" sz="3156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 8 : Stop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C3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0194" y="3939076"/>
            <a:ext cx="17419671" cy="3507025"/>
          </a:xfrm>
          <a:custGeom>
            <a:avLst/>
            <a:gdLst/>
            <a:ahLst/>
            <a:cxnLst/>
            <a:rect r="r" b="b" t="t" l="l"/>
            <a:pathLst>
              <a:path h="3507025" w="17419671">
                <a:moveTo>
                  <a:pt x="0" y="0"/>
                </a:moveTo>
                <a:lnTo>
                  <a:pt x="17419671" y="0"/>
                </a:lnTo>
                <a:lnTo>
                  <a:pt x="17419671" y="3507025"/>
                </a:lnTo>
                <a:lnTo>
                  <a:pt x="0" y="3507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" r="-128" b="-4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424826" y="-802123"/>
            <a:ext cx="6809253" cy="6796873"/>
          </a:xfrm>
          <a:custGeom>
            <a:avLst/>
            <a:gdLst/>
            <a:ahLst/>
            <a:cxnLst/>
            <a:rect r="r" b="b" t="t" l="l"/>
            <a:pathLst>
              <a:path h="6796873" w="6809253">
                <a:moveTo>
                  <a:pt x="0" y="0"/>
                </a:moveTo>
                <a:lnTo>
                  <a:pt x="6809253" y="0"/>
                </a:lnTo>
                <a:lnTo>
                  <a:pt x="6809253" y="6796872"/>
                </a:lnTo>
                <a:lnTo>
                  <a:pt x="0" y="67968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98203" y="1028700"/>
            <a:ext cx="7691595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</a:pPr>
            <a:r>
              <a:rPr lang="en-US" b="true" sz="90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</a:t>
            </a:r>
            <a:r>
              <a:rPr lang="en-US" b="true" sz="90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lowchart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5400000">
            <a:off x="12378890" y="4631257"/>
            <a:ext cx="6809253" cy="6796873"/>
          </a:xfrm>
          <a:custGeom>
            <a:avLst/>
            <a:gdLst/>
            <a:ahLst/>
            <a:cxnLst/>
            <a:rect r="r" b="b" t="t" l="l"/>
            <a:pathLst>
              <a:path h="6796873" w="6809253">
                <a:moveTo>
                  <a:pt x="0" y="0"/>
                </a:moveTo>
                <a:lnTo>
                  <a:pt x="6809253" y="0"/>
                </a:lnTo>
                <a:lnTo>
                  <a:pt x="6809253" y="6796872"/>
                </a:lnTo>
                <a:lnTo>
                  <a:pt x="0" y="67968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73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3115" y="3050499"/>
            <a:ext cx="2909906" cy="2909894"/>
            <a:chOff x="0" y="0"/>
            <a:chExt cx="6350025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-9612" t="0" r="-961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292870" y="3050499"/>
            <a:ext cx="2909906" cy="2909894"/>
            <a:chOff x="0" y="0"/>
            <a:chExt cx="6350025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3"/>
              <a:stretch>
                <a:fillRect l="0" t="-3981" r="0" b="-398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12626" y="3050499"/>
            <a:ext cx="2909906" cy="2909894"/>
            <a:chOff x="0" y="0"/>
            <a:chExt cx="6350025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26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26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104900"/>
            <a:ext cx="9647879" cy="121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5"/>
              </a:lnSpc>
              <a:spcBef>
                <a:spcPct val="0"/>
              </a:spcBef>
            </a:pPr>
            <a:r>
              <a:rPr lang="en-US" b="true" sz="8477" spc="-211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Program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5991" y="6301388"/>
            <a:ext cx="3943448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9"/>
              </a:lnSpc>
              <a:spcBef>
                <a:spcPct val="0"/>
              </a:spcBef>
            </a:pPr>
            <a:r>
              <a:rPr lang="en-US" b="true" sz="3999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Multiple Choice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5991" y="7344512"/>
            <a:ext cx="3764154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program includes basic multiple-choice questions related to C programming concepts.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97658" y="6301388"/>
            <a:ext cx="4100330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9"/>
              </a:lnSpc>
              <a:spcBef>
                <a:spcPct val="0"/>
              </a:spcBef>
            </a:pPr>
            <a:r>
              <a:rPr lang="en-US" b="true" sz="3999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Fill in the Blanks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65746" y="7344512"/>
            <a:ext cx="3764154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Simple fill-in-the-blank questions are used to test understanding of C syntax and definitions.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85502" y="6301388"/>
            <a:ext cx="3764154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9"/>
              </a:lnSpc>
              <a:spcBef>
                <a:spcPct val="0"/>
              </a:spcBef>
            </a:pPr>
            <a:r>
              <a:rPr lang="en-US" b="true" sz="3999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True/False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82500" y="7344512"/>
            <a:ext cx="3764154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True or false questions are included to quickly assess basic conceptual knowledge.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73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058190">
            <a:off x="-8315153" y="-2517302"/>
            <a:ext cx="13610886" cy="8302196"/>
            <a:chOff x="0" y="0"/>
            <a:chExt cx="1476351" cy="900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6351" cy="900526"/>
            </a:xfrm>
            <a:custGeom>
              <a:avLst/>
              <a:gdLst/>
              <a:ahLst/>
              <a:cxnLst/>
              <a:rect r="r" b="b" t="t" l="l"/>
              <a:pathLst>
                <a:path h="900526" w="1476351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174F9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476351" cy="1062451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17106" y="666750"/>
            <a:ext cx="8309317" cy="7811339"/>
            <a:chOff x="0" y="0"/>
            <a:chExt cx="11079089" cy="1041511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6200"/>
              <a:ext cx="10903324" cy="1462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59"/>
                </a:lnSpc>
              </a:pPr>
              <a:r>
                <a:rPr lang="en-US" b="true" sz="7599" spc="-18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Code Structure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827381"/>
              <a:ext cx="11079089" cy="7587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8494" indent="-349247" lvl="1">
                <a:lnSpc>
                  <a:spcPts val="4529"/>
                </a:lnSpc>
                <a:buFont typeface="Arial"/>
                <a:buChar char="•"/>
              </a:pPr>
              <a:r>
                <a:rPr lang="en-US" sz="323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</a:t>
              </a:r>
              <a:r>
                <a:rPr lang="en-US" sz="323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rogram</a:t>
              </a:r>
              <a:r>
                <a:rPr lang="en-US" sz="323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written using basic C language constructs.</a:t>
              </a:r>
            </a:p>
            <a:p>
              <a:pPr algn="l" marL="698494" indent="-349247" lvl="1">
                <a:lnSpc>
                  <a:spcPts val="4529"/>
                </a:lnSpc>
                <a:buFont typeface="Arial"/>
                <a:buChar char="•"/>
              </a:pPr>
              <a:r>
                <a:rPr lang="en-US" sz="323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stdio.h header file is used for input and output operations.</a:t>
              </a:r>
            </a:p>
            <a:p>
              <a:pPr algn="l" marL="698494" indent="-349247" lvl="1">
                <a:lnSpc>
                  <a:spcPts val="4529"/>
                </a:lnSpc>
                <a:buFont typeface="Arial"/>
                <a:buChar char="•"/>
              </a:pPr>
              <a:r>
                <a:rPr lang="en-US" sz="323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program starts execution from the main() function.</a:t>
              </a:r>
            </a:p>
            <a:p>
              <a:pPr algn="l" marL="698494" indent="-349247" lvl="1">
                <a:lnSpc>
                  <a:spcPts val="4529"/>
                </a:lnSpc>
                <a:buFont typeface="Arial"/>
                <a:buChar char="•"/>
              </a:pPr>
              <a:r>
                <a:rPr lang="en-US" sz="323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Variables are used to store user answers and the quiz score.</a:t>
              </a:r>
            </a:p>
            <a:p>
              <a:pPr algn="l" marL="698494" indent="-349247" lvl="1">
                <a:lnSpc>
                  <a:spcPts val="4529"/>
                </a:lnSpc>
                <a:buFont typeface="Arial"/>
                <a:buChar char="•"/>
              </a:pPr>
              <a:r>
                <a:rPr lang="en-US" sz="323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Conditional statements are used to check answers and update the score.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9072" y="1318054"/>
            <a:ext cx="8302229" cy="8302196"/>
            <a:chOff x="0" y="0"/>
            <a:chExt cx="11069639" cy="11069594"/>
          </a:xfrm>
        </p:grpSpPr>
        <p:grpSp>
          <p:nvGrpSpPr>
            <p:cNvPr name="Group 9" id="9"/>
            <p:cNvGrpSpPr>
              <a:grpSpLocks noChangeAspect="true"/>
            </p:cNvGrpSpPr>
            <p:nvPr/>
          </p:nvGrpSpPr>
          <p:grpSpPr>
            <a:xfrm rot="0">
              <a:off x="0" y="0"/>
              <a:ext cx="11069639" cy="11069594"/>
              <a:chOff x="0" y="0"/>
              <a:chExt cx="6350000" cy="634997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174F93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943769" y="943747"/>
              <a:ext cx="9182100" cy="918210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73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058190">
            <a:off x="-8315153" y="-2517302"/>
            <a:ext cx="13610886" cy="8302196"/>
            <a:chOff x="0" y="0"/>
            <a:chExt cx="1476351" cy="900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6351" cy="900526"/>
            </a:xfrm>
            <a:custGeom>
              <a:avLst/>
              <a:gdLst/>
              <a:ahLst/>
              <a:cxnLst/>
              <a:rect r="r" b="b" t="t" l="l"/>
              <a:pathLst>
                <a:path h="900526" w="1476351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E6AD0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476351" cy="1062451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257300"/>
            <a:ext cx="8132205" cy="7414593"/>
            <a:chOff x="0" y="0"/>
            <a:chExt cx="10842940" cy="988612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6200"/>
              <a:ext cx="9588500" cy="1462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59"/>
                </a:lnSpc>
              </a:pPr>
              <a:r>
                <a:rPr lang="en-US" b="true" sz="7599" spc="-18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Logic in Action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443206"/>
              <a:ext cx="10842940" cy="7442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83605" indent="-341803" lvl="1">
                <a:lnSpc>
                  <a:spcPts val="4432"/>
                </a:lnSpc>
                <a:buFont typeface="Arial"/>
                <a:buChar char="•"/>
              </a:pPr>
              <a:r>
                <a:rPr lang="en-US" sz="31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quiz program uses pr</a:t>
              </a:r>
              <a:r>
                <a:rPr lang="en-US" sz="31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int</a:t>
              </a:r>
              <a:r>
                <a:rPr lang="en-US" sz="31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f()</a:t>
              </a:r>
              <a:r>
                <a:rPr lang="en-US" sz="31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31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31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 di</a:t>
              </a:r>
              <a:r>
                <a:rPr lang="en-US" sz="31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splay questions and scanf() to accept user input.</a:t>
              </a:r>
            </a:p>
            <a:p>
              <a:pPr algn="l" marL="683605" indent="-341803" lvl="1">
                <a:lnSpc>
                  <a:spcPts val="4432"/>
                </a:lnSpc>
                <a:buFont typeface="Arial"/>
                <a:buChar char="•"/>
              </a:pPr>
              <a:r>
                <a:rPr lang="en-US" sz="31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Conditional statements (if-else) are used to compare user answers with correct answers.</a:t>
              </a:r>
            </a:p>
            <a:p>
              <a:pPr algn="l" marL="683605" indent="-341803" lvl="1">
                <a:lnSpc>
                  <a:spcPts val="4432"/>
                </a:lnSpc>
                <a:buFont typeface="Arial"/>
                <a:buChar char="•"/>
              </a:pPr>
              <a:r>
                <a:rPr lang="en-US" sz="31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When the answer is correct, the score is incremented.</a:t>
              </a:r>
            </a:p>
            <a:p>
              <a:pPr algn="l" marL="683605" indent="-341803" lvl="1">
                <a:lnSpc>
                  <a:spcPts val="4432"/>
                </a:lnSpc>
                <a:buFont typeface="Arial"/>
                <a:buChar char="•"/>
              </a:pPr>
              <a:r>
                <a:rPr lang="en-US" sz="3166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This logic continues until all questions are answered.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9072" y="1318054"/>
            <a:ext cx="8302229" cy="8302196"/>
            <a:chOff x="0" y="0"/>
            <a:chExt cx="11069639" cy="11069594"/>
          </a:xfrm>
        </p:grpSpPr>
        <p:grpSp>
          <p:nvGrpSpPr>
            <p:cNvPr name="Group 9" id="9"/>
            <p:cNvGrpSpPr>
              <a:grpSpLocks noChangeAspect="true"/>
            </p:cNvGrpSpPr>
            <p:nvPr/>
          </p:nvGrpSpPr>
          <p:grpSpPr>
            <a:xfrm rot="0">
              <a:off x="0" y="0"/>
              <a:ext cx="11069639" cy="11069594"/>
              <a:chOff x="0" y="0"/>
              <a:chExt cx="6350000" cy="634997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ECAE0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943769" y="943747"/>
              <a:ext cx="9182100" cy="918210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73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470904" y="-5630646"/>
            <a:ext cx="17734061" cy="15250896"/>
            <a:chOff x="0" y="0"/>
            <a:chExt cx="23645414" cy="20334528"/>
          </a:xfrm>
        </p:grpSpPr>
        <p:grpSp>
          <p:nvGrpSpPr>
            <p:cNvPr name="Group 3" id="3"/>
            <p:cNvGrpSpPr/>
            <p:nvPr/>
          </p:nvGrpSpPr>
          <p:grpSpPr>
            <a:xfrm rot="2058190">
              <a:off x="1541001" y="4151125"/>
              <a:ext cx="18147848" cy="11069594"/>
              <a:chOff x="0" y="0"/>
              <a:chExt cx="1476351" cy="90052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476351" cy="900526"/>
              </a:xfrm>
              <a:custGeom>
                <a:avLst/>
                <a:gdLst/>
                <a:ahLst/>
                <a:cxnLst/>
                <a:rect r="r" b="b" t="t" l="l"/>
                <a:pathLst>
                  <a:path h="900526" w="1476351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9B156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1476351" cy="1062451"/>
              </a:xfrm>
              <a:prstGeom prst="rect">
                <a:avLst/>
              </a:prstGeom>
            </p:spPr>
            <p:txBody>
              <a:bodyPr anchor="ctr" rtlCol="false" tIns="123349" lIns="123349" bIns="123349" rIns="123349"/>
              <a:lstStyle/>
              <a:p>
                <a:pPr algn="ctr" marL="0" indent="0" lvl="0">
                  <a:lnSpc>
                    <a:spcPts val="1120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12575776" y="9264934"/>
              <a:ext cx="11069639" cy="11069594"/>
              <a:chOff x="0" y="0"/>
              <a:chExt cx="6350000" cy="63499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9B1567"/>
              </a:solidFill>
            </p:spPr>
          </p:sp>
        </p:grpSp>
      </p:grpSp>
      <p:grpSp>
        <p:nvGrpSpPr>
          <p:cNvPr name="Group 8" id="8"/>
          <p:cNvGrpSpPr/>
          <p:nvPr/>
        </p:nvGrpSpPr>
        <p:grpSpPr>
          <a:xfrm rot="0">
            <a:off x="737347" y="2139315"/>
            <a:ext cx="6747958" cy="674795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76" r="0" b="-17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96400" y="666750"/>
            <a:ext cx="8057754" cy="8421580"/>
            <a:chOff x="0" y="0"/>
            <a:chExt cx="10743673" cy="1122877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7150"/>
              <a:ext cx="10743673" cy="3672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150"/>
                </a:lnSpc>
              </a:pPr>
              <a:r>
                <a:rPr lang="en-US" b="true" sz="6500" spc="-162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Output Demonstration of Quiz Interaction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576296"/>
              <a:ext cx="10743673" cy="6652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63706" indent="-381853" lvl="1">
                <a:lnSpc>
                  <a:spcPts val="4952"/>
                </a:lnSpc>
                <a:buFont typeface="Arial"/>
                <a:buChar char="•"/>
              </a:pPr>
              <a:r>
                <a:rPr lang="en-US" sz="35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This slide shows the ou</a:t>
              </a:r>
              <a:r>
                <a:rPr lang="en-US" sz="35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35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pu</a:t>
              </a:r>
              <a:r>
                <a:rPr lang="en-US" sz="35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35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th</a:t>
              </a:r>
              <a:r>
                <a:rPr lang="en-US" sz="35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quiz </a:t>
              </a:r>
              <a:r>
                <a:rPr lang="en-US" sz="35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program </a:t>
              </a:r>
              <a:r>
                <a:rPr lang="en-US" sz="35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exec</a:t>
              </a:r>
              <a:r>
                <a:rPr lang="en-US" sz="35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ut</a:t>
              </a:r>
              <a:r>
                <a:rPr lang="en-US" sz="35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35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 in the console.</a:t>
              </a:r>
            </a:p>
            <a:p>
              <a:pPr algn="l" marL="763706" indent="-381853" lvl="1">
                <a:lnSpc>
                  <a:spcPts val="4952"/>
                </a:lnSpc>
                <a:buFont typeface="Arial"/>
                <a:buChar char="•"/>
              </a:pPr>
              <a:r>
                <a:rPr lang="en-US" sz="35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user answers the displayed questions, and the program evaluates responses in real time.</a:t>
              </a:r>
            </a:p>
            <a:p>
              <a:pPr algn="l" marL="763706" indent="-381853" lvl="1">
                <a:lnSpc>
                  <a:spcPts val="4952"/>
                </a:lnSpc>
                <a:buFont typeface="Arial"/>
                <a:buChar char="•"/>
              </a:pPr>
              <a:r>
                <a:rPr lang="en-US" sz="35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After completing the quiz, the final score is displayed to the user.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73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eometric Element"/>
          <p:cNvSpPr/>
          <p:nvPr/>
        </p:nvSpPr>
        <p:spPr>
          <a:xfrm flipH="false" flipV="false" rot="0">
            <a:off x="16725900" y="66675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379967"/>
            <a:ext cx="5784164" cy="339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82"/>
              </a:lnSpc>
              <a:spcBef>
                <a:spcPct val="0"/>
              </a:spcBef>
            </a:pPr>
            <a:r>
              <a:rPr lang="en-US" b="true" sz="8075" spc="-201" u="non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Strengths of the Program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48395" y="2359790"/>
            <a:ext cx="635238" cy="112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32"/>
              </a:lnSpc>
              <a:spcBef>
                <a:spcPct val="0"/>
              </a:spcBef>
            </a:pPr>
            <a:r>
              <a:rPr lang="en-US" b="true" sz="7847" spc="-196">
                <a:solidFill>
                  <a:srgbClr val="9DC3E6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48395" y="4842259"/>
            <a:ext cx="635238" cy="112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32"/>
              </a:lnSpc>
              <a:spcBef>
                <a:spcPct val="0"/>
              </a:spcBef>
            </a:pPr>
            <a:r>
              <a:rPr lang="en-US" b="true" sz="7847" spc="-196">
                <a:solidFill>
                  <a:srgbClr val="9DC3E6"/>
                </a:solidFill>
                <a:latin typeface="Garet Bold"/>
                <a:ea typeface="Garet Bold"/>
                <a:cs typeface="Garet Bold"/>
                <a:sym typeface="Garet Bold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48395" y="7251190"/>
            <a:ext cx="635238" cy="1128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32"/>
              </a:lnSpc>
              <a:spcBef>
                <a:spcPct val="0"/>
              </a:spcBef>
            </a:pPr>
            <a:r>
              <a:rPr lang="en-US" b="true" sz="7847" spc="-196">
                <a:solidFill>
                  <a:srgbClr val="9DC3E6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66424" y="2147309"/>
            <a:ext cx="8692876" cy="1259840"/>
            <a:chOff x="0" y="0"/>
            <a:chExt cx="11590501" cy="167978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42153"/>
              <a:ext cx="11590501" cy="53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Easy-to-use console interface suitable for beginners.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8100"/>
              <a:ext cx="11590501" cy="837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9DC3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Simpl</a:t>
              </a:r>
              <a:r>
                <a:rPr lang="en-US" b="true" sz="3999" u="none">
                  <a:solidFill>
                    <a:srgbClr val="9DC3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 Interface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66424" y="4524810"/>
            <a:ext cx="8692876" cy="1697990"/>
            <a:chOff x="0" y="0"/>
            <a:chExt cx="11590501" cy="226398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142153"/>
              <a:ext cx="11590501" cy="1121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499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overs basic C programming concepts such as input, output, and conditional logic.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8100"/>
              <a:ext cx="11590501" cy="837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99"/>
                </a:lnSpc>
                <a:spcBef>
                  <a:spcPct val="0"/>
                </a:spcBef>
              </a:pPr>
              <a:r>
                <a:rPr lang="en-US" b="true" sz="3999" u="none">
                  <a:solidFill>
                    <a:srgbClr val="9DC3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Concept Clarity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66424" y="7075034"/>
            <a:ext cx="8692876" cy="1201928"/>
            <a:chOff x="0" y="0"/>
            <a:chExt cx="11590501" cy="1602571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064938"/>
              <a:ext cx="11590501" cy="53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</a:t>
              </a:r>
              <a:r>
                <a:rPr lang="en-US" sz="2499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signed for students learning C programming fundamentals.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38100"/>
              <a:ext cx="11590501" cy="837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99"/>
                </a:lnSpc>
                <a:spcBef>
                  <a:spcPct val="0"/>
                </a:spcBef>
              </a:pPr>
              <a:r>
                <a:rPr lang="en-US" b="true" sz="3999" u="none">
                  <a:solidFill>
                    <a:srgbClr val="9DC3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Beginner Friendly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0">
            <a:off x="7748395" y="4150099"/>
            <a:ext cx="13186450" cy="0"/>
          </a:xfrm>
          <a:prstGeom prst="line">
            <a:avLst/>
          </a:prstGeom>
          <a:ln cap="rnd" w="9525">
            <a:solidFill>
              <a:srgbClr val="3C3C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0">
            <a:off x="7748395" y="1623048"/>
            <a:ext cx="12999570" cy="0"/>
          </a:xfrm>
          <a:prstGeom prst="line">
            <a:avLst/>
          </a:prstGeom>
          <a:ln cap="rnd" w="9525">
            <a:solidFill>
              <a:srgbClr val="3C3C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0">
            <a:off x="7748395" y="6587986"/>
            <a:ext cx="13440897" cy="0"/>
          </a:xfrm>
          <a:prstGeom prst="line">
            <a:avLst/>
          </a:prstGeom>
          <a:ln cap="rnd" w="9525">
            <a:solidFill>
              <a:srgbClr val="3C3C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5400000">
            <a:off x="3411657" y="5950262"/>
            <a:ext cx="8663952" cy="0"/>
          </a:xfrm>
          <a:prstGeom prst="line">
            <a:avLst/>
          </a:prstGeom>
          <a:ln cap="rnd" w="9525">
            <a:solidFill>
              <a:srgbClr val="26262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73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eometric Element"/>
          <p:cNvSpPr/>
          <p:nvPr/>
        </p:nvSpPr>
        <p:spPr>
          <a:xfrm flipH="false" flipV="false" rot="0">
            <a:off x="16725900" y="66675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7956176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876300" y="3715118"/>
            <a:ext cx="6665281" cy="229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04"/>
              </a:lnSpc>
            </a:pPr>
            <a:r>
              <a:rPr lang="en-US" b="true" sz="7003" spc="-175">
                <a:solidFill>
                  <a:srgbClr val="4F81BD"/>
                </a:solidFill>
                <a:latin typeface="Garet Bold"/>
                <a:ea typeface="Garet Bold"/>
                <a:cs typeface="Garet Bold"/>
                <a:sym typeface="Garet Bold"/>
              </a:rPr>
              <a:t>Possible Improvements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345706" y="1801478"/>
            <a:ext cx="7380194" cy="1645386"/>
            <a:chOff x="0" y="0"/>
            <a:chExt cx="9840259" cy="219384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9840259" cy="951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99"/>
                </a:lnSpc>
              </a:pPr>
              <a:r>
                <a:rPr lang="en-US" b="true" sz="3999">
                  <a:solidFill>
                    <a:srgbClr val="9DC3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Input Validation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72015"/>
              <a:ext cx="9840259" cy="1121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  <a:hlinkClick r:id="rId4" tooltip="https://docs.google.com/spreadsheets/d/1DUF2isFWsqVSYhbaACYtbgcLi_YjDqpE3GLQIVgkKQg/edit#gid=69851113"/>
                </a:rPr>
                <a:t>Input validation can be added to handle invalid user responses.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45706" y="4726373"/>
            <a:ext cx="7380194" cy="1645386"/>
            <a:chOff x="0" y="0"/>
            <a:chExt cx="9840259" cy="219384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76200"/>
              <a:ext cx="9840259" cy="951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99"/>
                </a:lnSpc>
              </a:pPr>
              <a:r>
                <a:rPr lang="en-US" b="true" sz="3999">
                  <a:solidFill>
                    <a:srgbClr val="9DC3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User Interface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072015"/>
              <a:ext cx="9840259" cy="1121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  <a:hlinkClick r:id="rId5" tooltip="https://docs.google.com/spreadsheets/d/1DUF2isFWsqVSYhbaACYtbgcLi_YjDqpE3GLQIVgkKQg/edit#gid=69851113"/>
                </a:rPr>
                <a:t>Bet</a:t>
              </a:r>
              <a:r>
                <a:rPr lang="en-US" sz="24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  <a:hlinkClick r:id="rId6" tooltip="https://docs.google.com/spreadsheets/d/1DUF2isFWsqVSYhbaACYtbgcLi_YjDqpE3GLQIVgkKQg/edit#gid=69851113"/>
                </a:rPr>
                <a:t>ter formatting can improve readability of questions and options.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45706" y="7471326"/>
            <a:ext cx="7380194" cy="1645386"/>
            <a:chOff x="0" y="0"/>
            <a:chExt cx="9840259" cy="219384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76200"/>
              <a:ext cx="9840259" cy="9516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99"/>
                </a:lnSpc>
              </a:pPr>
              <a:r>
                <a:rPr lang="en-US" b="true" sz="3999">
                  <a:solidFill>
                    <a:srgbClr val="9DC3E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Code Optimization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72015"/>
              <a:ext cx="9840259" cy="1121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  <a:hlinkClick r:id="rId7" tooltip="https://docs.google.com/spreadsheets/d/1DUF2isFWsqVSYhbaACYtbgcLi_YjDqpE3GLQIVgkKQg/edit#gid=69851113"/>
                </a:rPr>
                <a:t>L</a:t>
              </a:r>
              <a:r>
                <a:rPr lang="en-US" sz="24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  <a:hlinkClick r:id="rId8" tooltip="https://docs.google.com/spreadsheets/d/1DUF2isFWsqVSYhbaACYtbgcLi_YjDqpE3GLQIVgkKQg/edit#gid=69851113"/>
                </a:rPr>
                <a:t>oops and functions can be used to reduce code repetition and improve efficiency.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144000" y="3978660"/>
            <a:ext cx="7144121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9144000" y="6900397"/>
            <a:ext cx="7144121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73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058190">
            <a:off x="-8315153" y="-2517302"/>
            <a:ext cx="13610886" cy="8302196"/>
            <a:chOff x="0" y="0"/>
            <a:chExt cx="1476351" cy="900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6351" cy="900526"/>
            </a:xfrm>
            <a:custGeom>
              <a:avLst/>
              <a:gdLst/>
              <a:ahLst/>
              <a:cxnLst/>
              <a:rect r="r" b="b" t="t" l="l"/>
              <a:pathLst>
                <a:path h="900526" w="1476351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F2E7D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476351" cy="1062451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01150" y="666750"/>
            <a:ext cx="8166380" cy="8817429"/>
            <a:chOff x="0" y="0"/>
            <a:chExt cx="10888506" cy="1175657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6200"/>
              <a:ext cx="10888506" cy="1642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349"/>
                </a:lnSpc>
              </a:pPr>
              <a:r>
                <a:rPr lang="en-US" b="true" sz="8499" spc="-212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Conclusion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22992"/>
              <a:ext cx="10888506" cy="9433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7605" indent="-333803" lvl="1">
                <a:lnSpc>
                  <a:spcPts val="4329"/>
                </a:lnSpc>
                <a:buFont typeface="Arial"/>
                <a:buChar char="•"/>
              </a:pP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 conclusion, the Quiz Game using C programming was successfully implemented.</a:t>
              </a:r>
            </a:p>
            <a:p>
              <a:pPr algn="l" marL="667605" indent="-333803" lvl="1">
                <a:lnSpc>
                  <a:spcPts val="4329"/>
                </a:lnSpc>
                <a:buFont typeface="Arial"/>
                <a:buChar char="•"/>
              </a:pP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This project h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lp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 u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 und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erst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nd a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 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pp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 basic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C programming 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concept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such as input/output operations, conditional statements, and logical decision-making.</a:t>
              </a:r>
            </a:p>
            <a:p>
              <a:pPr algn="l" marL="667605" indent="-333803" lvl="1">
                <a:lnSpc>
                  <a:spcPts val="4329"/>
                </a:lnSpc>
                <a:buFont typeface="Arial"/>
                <a:buChar char="•"/>
              </a:pP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quiz program evaluates user responses and calculates the final score correctly.</a:t>
              </a:r>
            </a:p>
            <a:p>
              <a:pPr algn="l" marL="667605" indent="-333803" lvl="1">
                <a:lnSpc>
                  <a:spcPts val="4329"/>
                </a:lnSpc>
                <a:buFont typeface="Arial"/>
                <a:buChar char="•"/>
              </a:pPr>
              <a:r>
                <a:rPr lang="en-US" sz="309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Overall, this project strengthened our understanding of fundamental programming concepts in C.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1181983"/>
            <a:ext cx="8302229" cy="8302196"/>
            <a:chOff x="0" y="0"/>
            <a:chExt cx="11069639" cy="11069594"/>
          </a:xfrm>
        </p:grpSpPr>
        <p:grpSp>
          <p:nvGrpSpPr>
            <p:cNvPr name="Group 9" id="9"/>
            <p:cNvGrpSpPr>
              <a:grpSpLocks noChangeAspect="true"/>
            </p:cNvGrpSpPr>
            <p:nvPr/>
          </p:nvGrpSpPr>
          <p:grpSpPr>
            <a:xfrm rot="0">
              <a:off x="0" y="0"/>
              <a:ext cx="11069639" cy="11069594"/>
              <a:chOff x="0" y="0"/>
              <a:chExt cx="6350000" cy="634997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F2E7D1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943769" y="943747"/>
              <a:ext cx="9182100" cy="918210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73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2271027"/>
            <a:ext cx="7191375" cy="5314950"/>
            <a:chOff x="0" y="0"/>
            <a:chExt cx="9588500" cy="7086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9588500" cy="4281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59"/>
                </a:lnSpc>
              </a:pPr>
              <a:r>
                <a:rPr lang="en-US" b="true" sz="7599" spc="-18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Questions and Discussion Time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43076"/>
              <a:ext cx="9588500" cy="194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Thank you for your time and attention.</a:t>
              </a:r>
            </a:p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We are ready to answer any questions related to our project.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470904" y="-5630646"/>
            <a:ext cx="17734061" cy="15250896"/>
            <a:chOff x="0" y="0"/>
            <a:chExt cx="23645414" cy="20334528"/>
          </a:xfrm>
        </p:grpSpPr>
        <p:grpSp>
          <p:nvGrpSpPr>
            <p:cNvPr name="Group 6" id="6"/>
            <p:cNvGrpSpPr/>
            <p:nvPr/>
          </p:nvGrpSpPr>
          <p:grpSpPr>
            <a:xfrm rot="2058190">
              <a:off x="1541001" y="4151125"/>
              <a:ext cx="18147848" cy="11069594"/>
              <a:chOff x="0" y="0"/>
              <a:chExt cx="1476351" cy="90052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476351" cy="900526"/>
              </a:xfrm>
              <a:custGeom>
                <a:avLst/>
                <a:gdLst/>
                <a:ahLst/>
                <a:cxnLst/>
                <a:rect r="r" b="b" t="t" l="l"/>
                <a:pathLst>
                  <a:path h="900526" w="1476351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A06ED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1476351" cy="1062451"/>
              </a:xfrm>
              <a:prstGeom prst="rect">
                <a:avLst/>
              </a:prstGeom>
            </p:spPr>
            <p:txBody>
              <a:bodyPr anchor="ctr" rtlCol="false" tIns="123349" lIns="123349" bIns="123349" rIns="123349"/>
              <a:lstStyle/>
              <a:p>
                <a:pPr algn="ctr" marL="0" indent="0" lvl="0">
                  <a:lnSpc>
                    <a:spcPts val="1120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>
              <a:grpSpLocks noChangeAspect="true"/>
            </p:cNvGrpSpPr>
            <p:nvPr/>
          </p:nvGrpSpPr>
          <p:grpSpPr>
            <a:xfrm rot="0">
              <a:off x="12575776" y="9264934"/>
              <a:ext cx="11069639" cy="11069594"/>
              <a:chOff x="0" y="0"/>
              <a:chExt cx="6350000" cy="634997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A06ED7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13519545" y="10208681"/>
              <a:ext cx="9182100" cy="918210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Console-Based Quiz Application</dc:description>
  <dc:identifier>DAHA8Jvj2mo</dc:identifier>
  <dcterms:modified xsi:type="dcterms:W3CDTF">2011-08-01T06:04:30Z</dcterms:modified>
  <cp:revision>1</cp:revision>
  <dc:title>Presentation - Console-Based Quiz Application</dc:title>
</cp:coreProperties>
</file>